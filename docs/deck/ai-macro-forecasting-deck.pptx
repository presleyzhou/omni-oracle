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各位好。今天这半个小时我想回答一个很具体的问题：人工智能到底能不能让宏观经济预测和趋势预测更准——如果能，准在哪里、怎么做到、又有哪些地方它其实做不到。
我不打算讲「AI 将改变一切」这类判断。今天所有结论都来自两类材料：一是 2025 到 2026 年发表的同行评审论文和央行工作论文，二是我们自己搭的开源演示平台 Omni Oracle 上跑出来的真实数据。每一页右下角都有出处，欢迎会后查证。
结构是这样的：先讲预测为什么难，然后分四层讲 AI 在哪里有效，中间会专门停下来讲一个最大的陷阱，接着看两个应用——危机预警和趋势预测，最后是评分、架构和路线图。
→ 我们从一个反直觉的事实开始：过去五年最大的预测失败，问题不在算法。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先问一个问题：2021 年通胀从 1.4% 冲到 7%，几乎所有机构都没预测到。是模型太简单吗？今年四月 Stevanovic 的论文给出了一个很干净的答案：不是函数形式错了，是样本构成错了。这些模型几乎只在 1985 年之后「大缓和」时期的数据上估计，那个样本里几乎没有供给冲击。你用一段没有供给冲击的历史去训练，模型自然学不到供给冲击。
这就是第一种误差来源——世界会换机制。第二种来源更基础：数据本身在动。GDP 要发布三次估计，就业数据每年做基准修订，CPI 权重每年调整。今天模型看到的「2024 年数据」和 2024 年当时能看到的数据不是同一组数字。如果回测时用了修订后的数据，你就在用未来的信息预测过去——这个问题我们在第六页会专门展开。
第三种来源最有意思：人的先验。Stevanovic 用 SPF 专业预测者的微观数据发现，60 岁以上、职业生涯经历过 1970 年代大通胀的预测者，从 2021 年初就开始上调通胀预期，而年轻的预测者一直锚定在 2%。他的原话是：「先验的来源，比模型的复杂程度更重要。」
这三条给了 AI 一个非常明确的任务清单：数据要更快、更接近实时；样本要更宽，能覆盖模型没见过的机制；视角要更多元，不能只有一种先验。接下来的四层，每一层都在解决其中一条。
→ 在进入具体方法之前，先给大家一张地图，看看哪些地方 AI 已经被证明有效。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表是今天的目录，也是一张证据地图。左边是六类预测任务，中间是已经被验证有效的方法，星级是我对证据强度的判断——四星意味着有多个独立团队、在真实样本外得到一致结果；三星意味着证据很强，但样本还短或者仍有争议。
请大家注意两件事。第一，前两行——即时预测和通胀密度预测——是四星，而且方法都是「经典计量 + 机器学习」的组合，不是大语言模型。第二，整张表里没有一行写着「让 LLM 直接报一个数字」。这不是疏漏。今天你会看到，LLM 直接做数值预测的证据要么很弱，要么受到严重的数据污染质疑。
LLM 真正有效的位置在第三、四行：把文本变成可计算的信号，以及作为一个「预测者」参与概率判断。危机预警和股票排序则是 AI 与经典理论结合的领域。
→ 我们从最成熟的一层开始：即时预测。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即时预测解决的是「数据滞后」问题。GDP 是季度数据，发布还要等一个月；但每周都有新的就业、零售、PMI 数据出来。Nowcasting 的任务就是把这些高频、不整齐的数据拼成一个对当季 GDP 的实时估计。
骨架是动态因子模型，Giannone、Reichlin 和 Small 2008 年的框架，纽约联储至今在用。它有两个别的方法很难替代的能力：处理混频数据和「不齐的边界」——就是有些指标已经出到 9 月、有些还停在 7 月的情况；以及给出「新闻分解」，告诉你这次预测变化中，有多少来自昨天的就业数据、多少来自 PMI。这对政策讨论非常有价值。
机器学习加在骨架上。Kant、Pick 和 Winter 2024 年，以及 IMF 2025 年的工作论文做了系统的赛马，结论一致：随机森林在即时预测和短期预测上通常最好，因为它抓住了非线性和变量之间的交互；但在回溯上 DFM 仍然最佳。所以正确的结论是「集成」，不是「替换」。
2025 年 10 月之后出现了第三个模型家族：时序基础模型。Amazon 的 Chronos-2 支持多变量和协变量，Google 的 TimesFM 2.5 在一千亿个时点上预训练。它们最大的特点是零样本——不需要在你的数据上训练。新西兰储备银行做的比较显示，零样本 TSFM 在 GDP 即时预测上打败了央行自己的基准模型。
但要诚实地说第四点：今年四月的一篇论文发现 TSFM 的内部表示会随经济机制漂移，另一篇在金融序列上得到参差的结果。所以我们的建议是：把 TSFM 当作集成里的第三个家族加进来，并公开每一层的实时记录，让数据决定权重。
→ 即时预测用的还是数值数据。下一层，我们把新闻和财报也变成数据。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第二层解决「信息面太窄」的问题。传统面板里只有几百个数值序列，但央行讲话、财报电话会、新闻里有大量领先信息——而且往往比数据早几周。问题是怎么把文本变成模型能用的东西。
2026 年有两篇论文分别在 GDP 和通胀上给出了答案。一篇提出用大语言模型把异质的文本来源压缩成统一的经济指数，再喂给预测模型，结果是 LLM 增强模型「持续且显著」优于只用结构化数据的基准。另一篇 Giannellis 等人用 2020 年到 2025 年 9 月的美国和欧元区月度数据，发现所有 LLM 方案都显著改善了传统通胀模型。
机构层面的最佳实践来自欧央行。他们从 2022 年底就把分位数回归森林——QRF——纳入货币政策准备的工具箱。它吃 60 个变量，输出的不是一个点，而是一个分布和风险信号。2025 年二季度和四季度，QRF 的区间整体高于欧央行官方预测，后来实际通胀确实高出了 20 个基点。也就是说，上行风险被提前标了出来。右边这个数字就是这件事。
请记住这一页的原则：LLM 负责「读」，计量模型负责「算」。文本生成的是特征，不是预测值。一旦你让 LLM 直接报数字，就会掉进下一页的陷阱。
→ 说到陷阱——这是今天最重要的一页。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如果今天只记住一页，请记住这一页。旧金山联储的 ChatMacro 论文做了一个很简单的实验：让 ChatGPT 预测美国通胀。在「伪样本外」——也就是问它已经过去的时期——它的表现和专业预测者调查差不多。但当研究者在真实时间里、每个月实时去问它，预测「大体不准确，而且陈旧」。同一个模型，两种结果。原因很简单：训练语料里已经有了答案。
金融领域把这个现象叫「利润幻影」。Look-Ahead-Bench 和 Profit Mirage 两篇论文系统地测量了它：LLM 金融代理漂亮的回测收益，在剔除前视信息之后大幅缩水。这不是模型作弊，是评估方法在作弊。
怎么解？四条，全部是工程纪律，不是算法。第一，用时间一致的模型——2025 年有工作专门训练只见过某个日期之前语料的 LLM。第二，给每一段文本打时间戳，只用评分日之前发布的内容。第三，回测用 ALFRED 数据 vintage，也就是当时实际发布的数字——今年六月的 MACROCAST 把这件事做进了模型本身，是第一个完全排除修订偏差的时序基础模型。第四，评估 AI 预测者时，只用在它知识截止日期之后创建的问题——Agentic Time Machine 走得更远：它把截止日期之后的网页全部过滤掉，重建当时的信息状态，离线得分与实时排行榜高度相关。
下面这条时间线就是规矩：训练截止、文本可见窗口，都必须落在「预测发布」这个点之前；结果揭晓和评分在之后。任何跨过这条线的信息，都会让你的准确率变成幻觉。在 Omni Oracle 里，我们把这条规矩做进了产品：任何 LLM 输出旁边都显示知识截止日期。
→ 有了这条纪律，我们才能公平地讨论下一个问题：LLM 作为预测者到底有多准。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第三层，我们把 LLM 当作一个预测者，而不是数据处理器。衡量它的标准和衡量人一样：Brier 分——预测概率与实际结果之差的平方，越低越好。
ForecastBench 是目前最严格的基准，由沃顿的团队维护。它的特点是问题全部关于未来，模型和人类回答同一批问题，所以不存在前视问题。左边的图是它的一组结果：超级预测者 0.096，Claude 3.5 Sonnet 0.122，GPT-4o 0.133。2026 年 1 月的排行榜上，超级预测者仍然第一，xAI 的 Grok 4.20 和一个集成方案并列第二，领先 GPT-5、o3 和 Claude Sonnet 4.5。领先幅度是 0.017 个 Brier 分——按过去一年的进步速度，大约相当于一年的差距。
第二个发现来自《皇家学会哲学汇刊》今年的一篇文章：多个不同模型的集成，有时已经追平人类群体的聚合预测。作者称之为「准确率—相关性效应」——模型之间的多样性，比单个模型的精度更重要。这和人类群体智慧的文献完全一致。
第三个发现最实用：人机混合最强。给人类预测者配一个遵循超级预测原则的 LLM 助手——提醒基准率、参考类别、范围敏感性——人类的准确率提升 23% 到 43%。Lu 2025 年用 464 道 Metaculus 题目也验证了排序：前沿模型已经胜过普通人群，但仍明显落后专家组。
→ 既然模型、人群、专家各有所长，自然的问题是：怎么把它们合起来？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第四层是集成。预测组合的文献有四十年历史，结论非常稳定：Timmermann 2006 年的综述、Ranjan 和 Gneiting 2010 年的工作都指出，组合几乎总是优于挑选单一最优模型，而且简单的等权平均是一个很难击败的基准。
真正的增益来自误差不相关的信号。我们有三类：模型，由数据驱动；预测者群体，代表人的判断；预测市场价格，背后是真金白银的激励。这三者犯的错误相关性很低——模型不会因为舆论恐慌而偏移，市场不会因为数据修订而失真——所以合在一起收益最大。
这里有一个 2026 年的反例值得记住。多智能体预言机的论文比较了两种聚合方式：让多个模型各自独立回答再按置信度加权投票，准确率 83.4%，高于最佳单模型；让模型互相辩论达成共识，反而降到 76% 左右——作者的解释是「自信的错误模型翻转了正确的模型」。所以集成要独立，不要开会。
产品层面有一个关键决策：归因透明。不要只给用户一个数字，要告诉他这个数字里模型占多少、群体占多少、市场占多少。当三者分歧很大时，分歧本身就是最重要的信息。右边是 Omni Oracle 设计文档里的示例权重——注意「示例」两个字，实际权重必须来自滚动的样本外表现，而不是拍脑袋。
→ 前面讲的都是「预测一个数」。接下来两个应用，一个是预测危机，一个是预测公司。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危机预警是 AI 最容易过拟合的领域，原因很简单：危机太少了。美国自 1970 年以来只有七次衰退。用几百个特征去拟合七个事件，几乎必然过拟合。所以这一页的标题是「把 AI 放在有理论的指标之上」，顺序不能反。
第一个指标是收益率曲线。Bluwstein 等人 2023 年在《国际经济学杂志》用 17 个国家 140 年的数据发现：曲线越平坦或越倒挂，危机概率越高——而且这对没有衰退在前的金融危机同样成立。纽约联储有一个用了二十年的 probit 公式，把 10 年减 3 个月的利差直接映射成 12 个月内衰退的概率。
机器学习的位置在哪里？Bluwstein 等人的贡献正是证明：在信贷增长和收益率曲线这两个最强预测因子之上，ML 能学到非线性和交互——比如曲线平坦化在信贷繁荣期比在其他时期危险得多。du Plessis 和 Fritsche 2025 年用 13 种算法在 147 年的系统性危机样本上验证了这个结论的稳健性。
左边这张图是真实数据：Omni Oracle 每天从美国财政部拉取的收益率曲线，算成月均利差。可以看到 2025 年上半年曾短暂倒挂，之后逐步转正，目前在 80 个基点以上。网站宏观页上的「金融危机预警」卡片把七个指标——利差、衰退概率、Sahm 规则、信用利差、VIX、增长、核心通胀——按公开阈值打分，合成一个 0 到 100 的脆弱性指数。请注意措辞：它是脆弱性度量，不是时点信号。
→ 从预测经济到预测公司——趋势预测里 AI 的增益来自完全不同的地方。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趋势预测和股票排序里，AI 的增益来自两处：非线性，和文本。
非线性的经典证据是 Gu、Kelly 和 Xiu 2020 年在《金融研究评论》的论文：用树模型和神经网络做资产定价，策略表现大约是线性回归的两倍。但他们也很诚实：主导信号仍然是动量、流动性、波动率这些老因子，增益来自因子之间的交互，而不是发现了新因子。
2026 年的新进展是文本进入了因子体系。上面三个数字来自今年六月的一篇论文：把标普 500 公司 10-K 报告的文本嵌入，沿着供应链知识图谱传播，构建的因子在 2011 到 2025 年实现 0.86 的年化夏普比率和每年 7.27% 的五因子 alpha。另一篇论文提醒我们要小心：文本相似不等于经济联系，需要用 LLM 过滤语义网络中的伪连边。还有一条路线是让 LLM 做结构化事件抽取，而不是只用嵌入。
专利是另一条被低估的信号。Kogan 等人用市场反应衡量专利价值，比引用数更能预测公司增长；Zheng 2025 年发现市场对专利文本反应不足——这是一个可利用的信号。
最后是纪律，和第六页完全对应：扩展窗口样本外、与五因子模型对比、只用评分日之前发布的文本。Omni Oracle 的记分卡就是按这个逻辑呈现的：创新分、趋势暴露、机器学习十分位，并明确标注不确定性。
→ 所有这些预测——宏观的、危机的、公司的——如果不能被评分，就只是观点。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没有评分的预测只是观点。这一页讲怎么让所有参与者——人、模型、集成——在同一套尺子下被衡量。
第一是 Brier 分和校准曲线。Brier 分衡量准确率，校准曲线衡量诚实度：你说 70% 的事情，是不是真的有 70% 发生了。大多数人和大多数模型都过度自信，校准曲线会把这一点暴露出来。
第二是污染安全评分。AI 参与者只在其知识截止之后创建的问题上计分，界面上永远显示截止日期徽章。这是第六页那条纪律的产品化。
第三是 Alpha Score，今年五月的一个新指标：以提交时刻的预测市场中价为基准来评分。链上预测市场有一个独特优势——问题是公开创建的、时间戳不可篡改，是天然的未污染题库。
第四条是一个警告。六个前沿模型在 Kalshi 和 Polymarket 上用真钱自主交易 57 天，全部亏损；2026 年世界杯 104 场比赛，四个前沿智能体 92% 的比赛选了同一热门，没有一个打败博彩公司的 Brier 分。这告诉我们两件事：LLM 直接交易还不成熟；以及短期收益排名几乎没有信息量。顺便给一个真实数字：Omni Oracle 的问题台账里，已结算问题上「入账时市场价」的 Brier 大约在 0.1 上下（2026 年 10 月初，42 道已结算）——这就是任何参与者要击败的基准，它每天自动更新，网站首页就能看到。
→ 把前面十页压成一张图，就是我们实际搭出来的架构。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 Omni Oracle 的实际架构，五层，信号自下而上流动。
最底层是数据。这里的重点不是「多」，而是「可信」：只用官方来源——BEA、BLS、世界银行、财政部——加每日快照兜底，加实时价格。每张卡片都标注数据状态：实时、缓存、快照还是演示数据。用户永远知道自己看的是什么。
往上是模型层和文本层，并列。模型层就是第四页的栈：DFM、随机森林、TSFM、BVAR 情景，外加一个 AR(1) 作为透明基线——任何复杂模型都必须先打败它。文本层是自带密钥的 LLM 分析师，它只读取页面上已经加载的官方序列，输出解读，不输出数字。这是第五页原则的落实。
再往上是群体和市场层：预测锦标赛、Polymarket 实时赔率、以及一个用 Hanson LMSR 机制做的模拟市场。它们提供与模型误差不相关的信号。
最顶层是集成和评分：按样本外表现加权、归因透明、Brier 排行榜、知识截止徽章、危机预警合成分。整个平台是纯前端、无后端、无密钥、开源，任何人都可以复现。
→ 架构有了，接下来做什么？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路线图按投入和影响排序，来自我们对 2025 到 2026 年文献的系统梳理。
前三项都可以在 90 天内以演示形式上线。第一项 AI 预测者基准，直接利用现有的自带密钥管道，让多个模型回答同一批锦标赛问题，与人类同表计分——这是第七页的产品化。第二项把 TSFM 加进即时预测集成，先离线跑、公开实时记录。第三项 AI 交易沙盒，在市场页已经有雏形。
第四项 M3 的交互拓扑是 2026 年多智能体模拟的前沿，投入更大。第五、六项是小投入的信号增强。第七项——污染安全评分规则——影响评级只有三星，但它决定整个平台的可信度，我建议与第一项同时做。每一项在 GitHub 上都有对应的 Issue，欢迎参与。
→ 最后，五条原则，一条底线。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回到开头的三种误差来源，五条原则一一对应。
第一，更快的数据、更宽的样本、更多的视角——分别对应数据滞后、机制切换、先验偏差。第二，LLM 负责读，计量模型负责算；文本生成特征，不生成预测值。第三，集成而非替换：模型、群体、市场三类信号按样本外表现加权，并公开归因。第四，时间纪律高于算法：时间戳、数据 vintage、只在知识截止之后计分。第五，先规则后模型：危机预警建立在有理论的指标之上。
底线是三句话，全部来自今天引用的文献，请原样带走：LLM 直接做多元数值预测仍然弱于线性回归；时序基础模型的内部表示会随机制漂移；AI 代理用真钱交易 57 天全部亏损。
所以我对开头那个问题的回答是：AI 提高的是整个预测流程的准确性和可评分性——更快的数据、更宽的信息面、更诚实的评估——而不是给我们一个先知。谢谢大家。
→ 参考文献在下一页，所有 arXiv 编号可直接检索。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参考文献页，无需讲述。所有 arXiv 编号可直接在 arxiv.org 检索；ECB 博客与 ForecastBench 排行榜为公开网页；数据来源均为官方或交易所公开 API，由 Omni Oracle 的每日快照工作流刷新。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5943600" cy="5943600"/>
          </a:xfrm>
          <a:prstGeom prst="ellipse">
            <a:avLst/>
          </a:prstGeom>
          <a:solidFill>
            <a:srgbClr val="4F8CFF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2926080"/>
            <a:ext cx="4206240" cy="4206240"/>
          </a:xfrm>
          <a:prstGeom prst="ellipse">
            <a:avLst/>
          </a:prstGeom>
          <a:solidFill>
            <a:srgbClr val="8B5CF6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 ORACLE · 研究简报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8412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如何用 AI 提高宏观经济和趋势预测的准确性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57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证据、陷阱与一套可落地的架构 — 基于 Omni Oracle 平台与 2025–2026 文献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029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Presley Zhou · Omni Oracle  ·  2026 年 10 月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349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presleyzhou.github.io/omni-oracle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presleyzhou.github.io/omni-oracle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543032" y="64739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053328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来源：Stevanovic (2026), Who Saw It Coming? Historical Experience and the 2021 Inflation Forecast Failure, arXiv 2604.14467 · Giannone, Reichlin &amp; Small (2008), JME — nowcasting 与 ragged edge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问题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预测为什么难：三种误差来源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3514344" cy="4389120"/>
          </a:xfrm>
          <a:prstGeom prst="roundRect">
            <a:avLst>
              <a:gd name="adj" fmla="val 3122"/>
            </a:avLst>
          </a:prstGeom>
          <a:solidFill>
            <a:srgbClr val="151D2C"/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920240"/>
            <a:ext cx="384048" cy="384048"/>
          </a:xfrm>
          <a:prstGeom prst="ellipse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2514600"/>
            <a:ext cx="2874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数据本身在动</a:t>
            </a:r>
            <a:endParaRPr lang="en-US" sz="23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3154680"/>
            <a:ext cx="28742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官方数据发布滞后 1–3 个月，且不断修订（GDP 三次估计、就业年度基准修订）。模型看到的历史与当时可知的历史并不相同。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68680" y="5074920"/>
            <a:ext cx="2874264" cy="566928"/>
          </a:xfrm>
          <a:prstGeom prst="roundRect">
            <a:avLst>
              <a:gd name="adj" fmla="val 12903"/>
            </a:avLst>
          </a:prstGeom>
          <a:solidFill>
            <a:srgbClr val="4F8CFF">
              <a:alpha val="15000"/>
            </a:srgbClr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05840" y="5074920"/>
            <a:ext cx="2599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对策 → 更快的数据：即时预测层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37304" y="1600200"/>
            <a:ext cx="3514344" cy="4389120"/>
          </a:xfrm>
          <a:prstGeom prst="roundRect">
            <a:avLst>
              <a:gd name="adj" fmla="val 3122"/>
            </a:avLst>
          </a:prstGeom>
          <a:solidFill>
            <a:srgbClr val="151D2C"/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57344" y="1920240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57344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657344" y="2514600"/>
            <a:ext cx="2874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世界会换机制</a:t>
            </a:r>
            <a:endParaRPr lang="en-US" sz="2300" dirty="0"/>
          </a:p>
        </p:txBody>
      </p:sp>
      <p:sp>
        <p:nvSpPr>
          <p:cNvPr id="19" name="Text 16"/>
          <p:cNvSpPr txBox="1"/>
          <p:nvPr/>
        </p:nvSpPr>
        <p:spPr>
          <a:xfrm>
            <a:off x="4657344" y="3154680"/>
            <a:ext cx="28742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年通胀失控：模型几乎只在「大缓和」时期的数据上估计，供给冲击的机制在样本里被严重低估。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657344" y="5074920"/>
            <a:ext cx="2874264" cy="566928"/>
          </a:xfrm>
          <a:prstGeom prst="roundRect">
            <a:avLst>
              <a:gd name="adj" fmla="val 12903"/>
            </a:avLst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94504" y="5074920"/>
            <a:ext cx="2599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对策 → 更宽的样本：TSFM 与文本层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125968" y="1600200"/>
            <a:ext cx="3514344" cy="4389120"/>
          </a:xfrm>
          <a:prstGeom prst="roundRect">
            <a:avLst>
              <a:gd name="adj" fmla="val 3122"/>
            </a:avLst>
          </a:prstGeom>
          <a:solidFill>
            <a:srgbClr val="151D2C"/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446008" y="1920240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44600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446008" y="2514600"/>
            <a:ext cx="2874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人的先验决定结果</a:t>
            </a:r>
            <a:endParaRPr lang="en-US" sz="2300" dirty="0"/>
          </a:p>
        </p:txBody>
      </p:sp>
      <p:sp>
        <p:nvSpPr>
          <p:cNvPr id="26" name="Text 23"/>
          <p:cNvSpPr txBox="1"/>
          <p:nvPr/>
        </p:nvSpPr>
        <p:spPr>
          <a:xfrm>
            <a:off x="8446008" y="3154680"/>
            <a:ext cx="28742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Stevanovic (2026)：60 岁以上、经历过 1970 年代的受访者更早上调通胀预期；「先验的来源比模型的复杂程度更重要」。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446008" y="5074920"/>
            <a:ext cx="2874264" cy="566928"/>
          </a:xfrm>
          <a:prstGeom prst="roundRect">
            <a:avLst>
              <a:gd name="adj" fmla="val 12903"/>
            </a:avLst>
          </a:prstGeom>
          <a:solidFill>
            <a:srgbClr val="22C55E">
              <a:alpha val="1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583168" y="5074920"/>
            <a:ext cx="2599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对策 → 更多的视角：LLM 群体 + 市场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presleyzhou.github.io/omni-oracle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543032" y="64739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053328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来源：各行文献见对应页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证据地图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在哪些环节已经被证明有效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1097280"/>
                <a:gridCol w="4873752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任务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有效方法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证据强度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关键文献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GDP / 通胀即时预测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5EA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DFM + 随机森林 + TSFM 集成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5EA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Kant–Pick–Winter 2024; IMF WP/25/252; RBNZ TSFM 比较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通胀密度预测与风险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5EA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分位数回归森林 (QRF)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5EA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Lenza et al. 2025 EER; ECB 2026 博客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文本 → 经济指数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5EA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抽取新闻/财报/央行讲话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5EA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Giannellis 2026 JoF; JKSU-CIS 2026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事件概率判断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5EA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预测者 + 人机混合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5EA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ForecastBench 2026; Lu 2025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危机预警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5EA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有理论的指标 + ML 非线性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5EA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Bluwstein et al. 2023 JIE; du Plessis &amp; Fritsche 2025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趋势公司 / 股票排序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5EA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 因子 + 专利与文本嵌入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5EA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Gu–Kelly–Xiu 2020; arXiv 2606.29290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presleyzhou.github.io/omni-oracle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543032" y="64739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053328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来源：Giannone, Reichlin &amp; Small (2008) · Kant, Pick &amp; Winter (2024), AStA; IMF WP/2025/252 · MDPI MAKE 7(4):135 — RBNZ TSFM 比较 · arXiv 2604.16428; arXiv 2511.18578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第一层：即时预测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Nowcasting：动态因子模型 + 随机森林 + 时序基础模型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1636776"/>
            <a:ext cx="384048" cy="384048"/>
          </a:xfrm>
          <a:prstGeom prst="ellipse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1600200"/>
            <a:ext cx="6355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DFM 是骨架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1984248"/>
            <a:ext cx="6355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Giannone–Reichlin–Small 处理混频与 ragged edge，纽约联储沿用至今；每次发布后给出「新闻分解」——哪条数据把预测推动了多少。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2734056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2697480"/>
            <a:ext cx="6355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随机森林通常最好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3081528"/>
            <a:ext cx="6355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Kant, Pick &amp; Winter (2024) 与 IMF WP/2025/252 的赛马：RF 在即时预测与短期预测上居首，DFM 在回溯上最佳——所以要集成，不是替换。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3831336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3794760"/>
            <a:ext cx="6355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TSFM 零样本已可用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4178808"/>
            <a:ext cx="6355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Chronos-2 (2025-10) 支持多变量与协变量；TimesFM 2.5 在 1000 亿时点上预训练。RBNZ 比较显示零样本 TSFM 在 GDP 即时预测上优于央行基准。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492861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4928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143000" y="4892040"/>
            <a:ext cx="6355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但嵌入空间非平稳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" y="5276088"/>
            <a:ext cx="6355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 2604.16428：TSFM 嵌入随机制漂移；在金融序列上结果参差 (2511.18578)。结论仍是「作为第三个模型家族加入集成」。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863840" y="1600200"/>
            <a:ext cx="3776472" cy="4389120"/>
          </a:xfrm>
          <a:prstGeom prst="roundRect">
            <a:avLst>
              <a:gd name="adj" fmla="val 2906"/>
            </a:avLst>
          </a:prstGeom>
          <a:solidFill>
            <a:srgbClr val="151D2C"/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138160" y="182880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即时预测栈（M1）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138160" y="2286000"/>
            <a:ext cx="3227832" cy="786384"/>
          </a:xfrm>
          <a:prstGeom prst="roundRect">
            <a:avLst>
              <a:gd name="adj" fmla="val 9302"/>
            </a:avLst>
          </a:prstGeom>
          <a:solidFill>
            <a:srgbClr val="4F8CFF">
              <a:alpha val="18000"/>
            </a:srgbClr>
          </a:solidFill>
          <a:ln w="9525">
            <a:solidFill>
              <a:srgbClr val="4F8C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321040" y="2395728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DFM 即时预测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8321040" y="2724912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混频 · ragged edge · 新闻分解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138160" y="3200400"/>
            <a:ext cx="3227832" cy="786384"/>
          </a:xfrm>
          <a:prstGeom prst="roundRect">
            <a:avLst>
              <a:gd name="adj" fmla="val 9302"/>
            </a:avLst>
          </a:prstGeom>
          <a:solidFill>
            <a:srgbClr val="8B5CF6">
              <a:alpha val="18000"/>
            </a:srgbClr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321040" y="3310128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随机森林 / GBT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8321040" y="3639312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非线性 · 替代数据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8138160" y="4114800"/>
            <a:ext cx="3227832" cy="786384"/>
          </a:xfrm>
          <a:prstGeom prst="roundRect">
            <a:avLst>
              <a:gd name="adj" fmla="val 9302"/>
            </a:avLst>
          </a:prstGeom>
          <a:solidFill>
            <a:srgbClr val="22D3EE">
              <a:alpha val="18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321040" y="4224528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TSFM 零样本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8321040" y="4553712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Chronos-2 · TimesFM 2.5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8138160" y="5029200"/>
            <a:ext cx="3227832" cy="786384"/>
          </a:xfrm>
          <a:prstGeom prst="roundRect">
            <a:avLst>
              <a:gd name="adj" fmla="val 9302"/>
            </a:avLst>
          </a:prstGeom>
          <a:solidFill>
            <a:srgbClr val="22C55E">
              <a:alpha val="18000"/>
            </a:srgbClr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321040" y="5138928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BVAR 情景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8321040" y="5468112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条件路径 · 扇形图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presleyzhou.github.io/omni-oracle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543032" y="64739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053328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来源：JKSU-CIS (2026), doi 10.1007/s44443-026-00788-2 · Giannellis et al. (2026), Journal of Forecasting, doi 10.1002/for.70139 · ECB Blog, 2026-04-21, Navigating uncertain times with AI; Lenza et al. (2025) EER 178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第二层：文本即数据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 LLM 读新闻、财报和央行讲话——再交给计量模型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1636776"/>
            <a:ext cx="384048" cy="384048"/>
          </a:xfrm>
          <a:prstGeom prst="ellipse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1600200"/>
            <a:ext cx="6720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1984248"/>
            <a:ext cx="6720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JKSU-CIS (2026)：LLM 把异质文本压成统一经济指数，LLM 增强模型「持续且显著」优于仅用结构化数据的基准。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734056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2697480"/>
            <a:ext cx="6720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通胀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3081528"/>
            <a:ext cx="6720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Giannellis et al. (2026, J. Forecasting)：2020M1–2025M9 美欧月度样本，所有 LLM 方案都显著改善传统模型。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831336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3794760"/>
            <a:ext cx="6720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央行实践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4178808"/>
            <a:ext cx="6720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ECB 自 2022 年底把 QRF 纳入政策准备工具箱：60 个变量、给出密度与风险信号；2025 年二、四季度模型区间高于官方预测，实际通胀高出 20bp——上行风险被提前捕捉。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48640" y="492861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4928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143000" y="4892040"/>
            <a:ext cx="6720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原则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" y="5276088"/>
            <a:ext cx="6720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负责「读」，计量模型负责「算」：文本生成的是特征，不是预测值。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229600" y="1600200"/>
            <a:ext cx="3410712" cy="4389120"/>
          </a:xfrm>
          <a:prstGeom prst="roundRect">
            <a:avLst>
              <a:gd name="adj" fmla="val 3217"/>
            </a:avLst>
          </a:prstGeom>
          <a:solidFill>
            <a:srgbClr val="1A2437"/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503920" y="2240280"/>
            <a:ext cx="28620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 bp</a:t>
            </a:r>
            <a:endParaRPr lang="en-US" sz="6600" dirty="0"/>
          </a:p>
        </p:txBody>
      </p:sp>
      <p:sp>
        <p:nvSpPr>
          <p:cNvPr id="26" name="Text 23"/>
          <p:cNvSpPr txBox="1"/>
          <p:nvPr/>
        </p:nvSpPr>
        <p:spPr>
          <a:xfrm>
            <a:off x="8503920" y="3703320"/>
            <a:ext cx="2862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E5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2025Q2/Q4 实际通胀高于 ECB 官方预测 — QRF 已提前标出上行风险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8503920" y="553212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ECB · 2026-04 博客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presleyzhou.github.io/omni-oracle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543032" y="64739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053328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来源：Alam et al. (2026), ChatMacro, SF Fed WP 2026-xx (ideas.repec.org fedfwp/102407) · Look-Ahead-Bench arXiv 2601.13770; Profit Mirage arXiv 2510.07920 · Chronologically Consistent LLMs arXiv 2502.21206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最大的陷阱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前视偏差：伪样本外表现好，真实时预测差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1636776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1600200"/>
            <a:ext cx="10497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ChatMacro (SF Fed WP)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1984248"/>
            <a:ext cx="10497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 ChatGPT 实时预测美国通胀：真实样本外「大体不准且陈旧」，而伪样本外却与基准相当——训练语料已经「看过」答案。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73405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2697480"/>
            <a:ext cx="10497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Look-Ahead-Bench / Profit Mirage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3081528"/>
            <a:ext cx="10497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 2601.13770 与 2510.07920：LLM 金融代理的回测收益在剔除前视信息后大幅缩水。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831336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3794760"/>
            <a:ext cx="10497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解法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4178808"/>
            <a:ext cx="10497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时间一致的 LLM（2502.21206）；② 只用评分日之前发布的文本；③ 用 ALFRED vintage 回测——MACROCAST（2606.28670）是首个 vintage 一致的 TSFM；④ 只在知识截止之后创建的问题上评分——Agentic Time Machine（2606.21013）过滤截止日后的网页重建历史信息状态。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22960" y="5312664"/>
            <a:ext cx="10543032" cy="0"/>
          </a:xfrm>
          <a:prstGeom prst="line">
            <a:avLst/>
          </a:prstGeom>
          <a:noFill/>
          <a:ln w="25400">
            <a:solidFill>
              <a:srgbClr val="24304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0936" y="5120640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-91440" y="5577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训练截止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266694" y="5120640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544318" y="5577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文本可见窗口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902452" y="5120640"/>
            <a:ext cx="384048" cy="384048"/>
          </a:xfrm>
          <a:prstGeom prst="ellipse">
            <a:avLst/>
          </a:prstGeom>
          <a:solidFill>
            <a:srgbClr val="4F8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180076" y="5577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预测发布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538210" y="512064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815834" y="5577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结果揭晓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11173968" y="512064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451592" y="5577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允许模型看到的一切都必须落在「预测发布」之前——用时间戳、数据 vintage 和知识截止日期来强制执行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presleyzhou.github.io/omni-oracle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543032" y="64739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053328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来源：ForecastBench (Wharton, 2026-02 版), arXiv 2409.19839 · Lu (2025), Evaluating LLMs on Real-World Forecasting Against Expert Forecasters, arXiv 2507.04562 · Phil. Trans. R. Soc. B 381 (2026), accuracy–correlation effect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第三层：LLM 作为预测者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判断事件概率：差距还有约一年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151D2C"/>
          </a:solidFill>
          <a:ln w="9525">
            <a:solidFill>
              <a:srgbClr val="24304A"/>
            </a:solidFill>
            <a:prstDash val="solid"/>
          </a:ln>
        </p:spPr>
      </p:sp>
      <p:pic>
        <p:nvPicPr>
          <p:cNvPr id="9" name="Image 0" descr="img/br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760" y="1783080"/>
            <a:ext cx="4470400" cy="40233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35040" y="1636776"/>
            <a:ext cx="384048" cy="384048"/>
          </a:xfrm>
          <a:prstGeom prst="ellipse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035040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629400" y="1600200"/>
            <a:ext cx="5010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2026-01 排行榜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629400" y="1984248"/>
            <a:ext cx="5010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超级预测者仍居第一；Grok 4.20 与集成方案并列第二，领先 GPT-5、o3、Claude Sonnet 4.5。差距 0.017 Brier ≈ 一年的模型进步。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035040" y="3099816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035040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629400" y="3063240"/>
            <a:ext cx="5010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硅基群体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6629400" y="3447288"/>
            <a:ext cx="5010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多模型集成有时已追平人类聚合——「accuracy–correlation effect」：多样性比单模型精度更重要 (Phil. Trans. R. Soc. B 2026)。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035040" y="4562856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035040" y="4562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6629400" y="4526280"/>
            <a:ext cx="5010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人机混合最强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6629400" y="4910328"/>
            <a:ext cx="5010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带超级预测原则的 LLM 助手让人类准确率提升 23–43%。Lu (2025, 464 题)：前沿模型胜过人类大众，但仍明显落后专家组。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presleyzhou.github.io/omni-oracle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543032" y="64739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053328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来源：Timmermann (2006), Forecast Combinations, Handbook of Economic Forecasting · Ranjan &amp; Gneiting (2010), JRSS-B · Omni Oracle DESIGN.md §C2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第四层：集成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 + 群体 + 市场：按样本外表现加权，并公开归因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1636776"/>
            <a:ext cx="384048" cy="384048"/>
          </a:xfrm>
          <a:prstGeom prst="ellipse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160020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理论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1892808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Timmermann (2006) 与 Ranjan–Gneiting：组合几乎总优于挑选单一最优；简单均值是难以击败的基准。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2478024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三类信号互补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770632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模型（数据驱动）、预测者群体（判断）、预测市场价格（激励）。三者误差相关性低，正是集成收益的来源。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3392424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3355848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透明归因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3648456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每个预测都显示：模型贡献多少、群体多少、市场多少——用户能看到分歧，分歧本身就是信息。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48640" y="427024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143000" y="4233672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反例：辩论式共识更差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" y="4526280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2605.30802：独立投票 + 置信度加权 83.4% &gt; 最佳单模型；让模型互相辩论反降至约 76%——自信的错误模型翻转了正确模型。集成要独立，不要开会。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48640" y="5148072"/>
            <a:ext cx="384048" cy="38404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" y="5148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143000" y="5111496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 Oracle 实现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143000" y="5404104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集成引擎；AI 交易者与结算台按独立投票聚合，分歧 &gt;25pp 的市场标为「有争议」不交易。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7680960" y="1600200"/>
            <a:ext cx="3959352" cy="4389120"/>
          </a:xfrm>
          <a:prstGeom prst="roundRect">
            <a:avLst>
              <a:gd name="adj" fmla="val 2771"/>
            </a:avLst>
          </a:prstGeom>
          <a:solidFill>
            <a:srgbClr val="151D2C"/>
          </a:solidFill>
          <a:ln w="9525">
            <a:solidFill>
              <a:srgbClr val="24304A"/>
            </a:solidFill>
            <a:prstDash val="solid"/>
          </a:ln>
        </p:spPr>
      </p:sp>
      <p:pic>
        <p:nvPicPr>
          <p:cNvPr id="29" name="Image 0" descr="img/weigh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952244"/>
            <a:ext cx="3685032" cy="36850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presleyzhou.github.io/omni-oracle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543032" y="64739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053328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来源：Bluwstein, Buckmann, Joseph, Kapadia &amp; Şimşek (2023), JIE · du Plessis &amp; Fritsche (2025), Journal of Forecasting · Estrella &amp; Trubin (2006), NY Fed Current Issues; Sahm (2019) · 数据：美国财政部每日收益率曲线（Omni Oracle 每日快照）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危机预警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危机预警：把 AI 放在有理论的指标之上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5852160" cy="4389120"/>
          </a:xfrm>
          <a:prstGeom prst="roundRect">
            <a:avLst>
              <a:gd name="adj" fmla="val 2500"/>
            </a:avLst>
          </a:prstGeom>
          <a:solidFill>
            <a:srgbClr val="151D2C"/>
          </a:solidFill>
          <a:ln w="9525">
            <a:solidFill>
              <a:srgbClr val="24304A"/>
            </a:solidFill>
            <a:prstDash val="solid"/>
          </a:ln>
        </p:spPr>
      </p:sp>
      <p:pic>
        <p:nvPicPr>
          <p:cNvPr id="9" name="Image 0" descr="img/spre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480" y="1783080"/>
            <a:ext cx="5364480" cy="40233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766560" y="1636776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766560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360920" y="1600200"/>
            <a:ext cx="4279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收益率曲线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360920" y="1984248"/>
            <a:ext cx="4279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越平坦或倒挂，危机概率越高——即使危机之前没有衰退 (Bluwstein et al. 2023, JIE)。纽约联储 probit：P = Φ(−0.533 − 0.633×利差)。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766560" y="309981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766560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7360920" y="3063240"/>
            <a:ext cx="4279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信贷 + 曲线 + ML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7360920" y="3447288"/>
            <a:ext cx="4279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Bluwstein 等用 ML 处理 17 国 140 年数据：信贷增长与收益率曲线是最强预测因子，非线性带来增益。du Plessis &amp; Fritsche (2025) 用 13 种算法验证 147 年危机样本。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766560" y="4562856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766560" y="4562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7360920" y="4526280"/>
            <a:ext cx="4279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先规则，后模型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7360920" y="4910328"/>
            <a:ext cx="4279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Sahm 规则、VIX、Baa 利差都有公开阈值；AI 的角色是在这些指标之上学非线性与交互，并给出可解释性。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presleyzhou.github.io/omni-oracle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543032" y="64739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053328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来源：Gu, Kelly &amp; Xiu (2020), RFS · arXiv 2606.29290; arXiv 2604.19476; arXiv 2512.19484 · Kogan, Papanikolaou, Seru &amp; Stoffman (2017), QJE; Zheng (2025), CAR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趋势预测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趋势公司与股票：文本嵌入正在成为新的因子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3514344" cy="1554480"/>
          </a:xfrm>
          <a:prstGeom prst="roundRect">
            <a:avLst>
              <a:gd name="adj" fmla="val 7059"/>
            </a:avLst>
          </a:prstGeom>
          <a:solidFill>
            <a:srgbClr val="1A2437"/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709928"/>
            <a:ext cx="3057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</a:t>
            </a:r>
            <a:endParaRPr lang="en-US" sz="4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51460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年化 Sharpe：10-K 嵌入 + 供应链传播因子 (2606.29290)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37304" y="1600200"/>
            <a:ext cx="3514344" cy="1554480"/>
          </a:xfrm>
          <a:prstGeom prst="roundRect">
            <a:avLst>
              <a:gd name="adj" fmla="val 7059"/>
            </a:avLst>
          </a:prstGeom>
          <a:solidFill>
            <a:srgbClr val="1A2437"/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65904" y="1709928"/>
            <a:ext cx="3057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7.27%</a:t>
            </a:r>
            <a:endParaRPr lang="en-US" sz="4200" dirty="0"/>
          </a:p>
        </p:txBody>
      </p:sp>
      <p:sp>
        <p:nvSpPr>
          <p:cNvPr id="13" name="Text 10"/>
          <p:cNvSpPr txBox="1"/>
          <p:nvPr/>
        </p:nvSpPr>
        <p:spPr>
          <a:xfrm>
            <a:off x="4565904" y="251460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 FF5 alpha，同一策略，S&amp;P 500 2011–2025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125968" y="1600200"/>
            <a:ext cx="3514344" cy="1554480"/>
          </a:xfrm>
          <a:prstGeom prst="roundRect">
            <a:avLst>
              <a:gd name="adj" fmla="val 7059"/>
            </a:avLst>
          </a:prstGeom>
          <a:solidFill>
            <a:srgbClr val="1A2437"/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54568" y="1709928"/>
            <a:ext cx="3057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4200" dirty="0"/>
          </a:p>
        </p:txBody>
      </p:sp>
      <p:sp>
        <p:nvSpPr>
          <p:cNvPr id="16" name="Text 13"/>
          <p:cNvSpPr txBox="1"/>
          <p:nvPr/>
        </p:nvSpPr>
        <p:spPr>
          <a:xfrm>
            <a:off x="8354568" y="251460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Gu–Kelly–Xiu：树与神经网络策略表现约为回归的两倍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3538728"/>
            <a:ext cx="384048" cy="384048"/>
          </a:xfrm>
          <a:prstGeom prst="ellipse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3520440"/>
            <a:ext cx="47685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蓝本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3886200"/>
            <a:ext cx="47685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Gu, Kelly &amp; Xiu (2020, RFS)：ML 的增益来自非线性交互；主导信号仍是动量、流动性、波动率。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277356" y="3538728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277356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871716" y="3520440"/>
            <a:ext cx="47685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文本进入因子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6871716" y="3886200"/>
            <a:ext cx="47685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10-K 嵌入沿供应链知识图谱传播 (2606.29290)；LLM 过滤语义网络中的伪连边 (2604.19476)；结构化事件抽取而非纯嵌入 (2512.19484)。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548640" y="4956048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1143000" y="4937760"/>
            <a:ext cx="47685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专利与创新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1143000" y="5303520"/>
            <a:ext cx="47685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Kogan et al. (2017) 市场反应法专利价值；市场对专利文本反应不足 (Zheng 2025 CAR)——可利用的信号。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6277356" y="495604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277356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871716" y="4937760"/>
            <a:ext cx="47685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纪律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6871716" y="5303520"/>
            <a:ext cx="47685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Welch–Goyal 式扩展窗口样本外；与 FF5 / q 因子对比；只用评分日前发布的文本。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presleyzhou.github.io/omni-oracle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543032" y="64739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053328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来源：arXiv 2605.00420 (Alpha Score) · arXiv 2605.19337 系列（LLM 代理真钱交易） · Tetlock &amp; Gardner (2015), Superforecasting; Gneiting &amp; Raftery (2007) 评分规则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校准与评分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能被评分的预测才会进步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5362956" cy="2011680"/>
          </a:xfrm>
          <a:prstGeom prst="roundRect">
            <a:avLst>
              <a:gd name="adj" fmla="val 5455"/>
            </a:avLst>
          </a:prstGeom>
          <a:solidFill>
            <a:srgbClr val="151D2C"/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874520"/>
            <a:ext cx="384048" cy="384048"/>
          </a:xfrm>
          <a:prstGeom prst="ellipse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1874520"/>
            <a:ext cx="42656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Brier 分与校准曲线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468880"/>
            <a:ext cx="48143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对每个预测者、每个模型、每个集成公开记录；校准曲线揭示过度自信。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77356" y="1600200"/>
            <a:ext cx="5362956" cy="2011680"/>
          </a:xfrm>
          <a:prstGeom prst="roundRect">
            <a:avLst>
              <a:gd name="adj" fmla="val 5455"/>
            </a:avLst>
          </a:prstGeom>
          <a:solidFill>
            <a:srgbClr val="151D2C"/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51676" y="1874520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5167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100316" y="1874520"/>
            <a:ext cx="42656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污染安全评分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551676" y="2468880"/>
            <a:ext cx="48143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参与者只在其知识截止之后创建的问题上计分；UI 上永远显示截止日期徽章。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3977640"/>
            <a:ext cx="5362956" cy="2011680"/>
          </a:xfrm>
          <a:prstGeom prst="roundRect">
            <a:avLst>
              <a:gd name="adj" fmla="val 5455"/>
            </a:avLst>
          </a:prstGeom>
          <a:solidFill>
            <a:srgbClr val="151D2C"/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" y="4251960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371600" y="4251960"/>
            <a:ext cx="42656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Score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4846320"/>
            <a:ext cx="48143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 2605.00420：以提交时的市场中价为基准评分——链上市场是天然的未污染题库。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277356" y="3977640"/>
            <a:ext cx="5362956" cy="2011680"/>
          </a:xfrm>
          <a:prstGeom prst="roundRect">
            <a:avLst>
              <a:gd name="adj" fmla="val 5455"/>
            </a:avLst>
          </a:prstGeom>
          <a:solidFill>
            <a:srgbClr val="151D2C"/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51676" y="425196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51676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7100316" y="4251960"/>
            <a:ext cx="42656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谨慎解读短期 PnL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6551676" y="4846320"/>
            <a:ext cx="48143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六个前沿模型真钱交易 57 天全部亏损（Prediction Arena）；2026 世界杯 104 场，四个智能体无一打败博彩公司（2607.17765）。真实台账：入账时市场价的 Brier ≈ 0.1（2026-10，42 道）——要击败的基准，每日更新。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presleyzhou.github.io/omni-oracle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543032" y="64739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053328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来源：github.com/presleyzhou/omni-oracle — DESIGN.md, RESEARCH-UPDATES.md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落地架构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一套可以今天开始搭的架构（Omni Oracle 演示实现）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11091672" cy="749808"/>
          </a:xfrm>
          <a:prstGeom prst="roundRect">
            <a:avLst>
              <a:gd name="adj" fmla="val 12195"/>
            </a:avLst>
          </a:prstGeom>
          <a:solidFill>
            <a:srgbClr val="F59E0B">
              <a:alpha val="16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60020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集成 + 评分层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3291840" y="160020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5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按样本外表现加权、归因透明；Brier 排行榜、知识截止徽章、危机预警合成分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48640" y="2459736"/>
            <a:ext cx="11091672" cy="749808"/>
          </a:xfrm>
          <a:prstGeom prst="roundRect">
            <a:avLst>
              <a:gd name="adj" fmla="val 12195"/>
            </a:avLst>
          </a:prstGeom>
          <a:solidFill>
            <a:srgbClr val="22C55E">
              <a:alpha val="16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2459736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群体 + 市场层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3291840" y="2459736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5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预测锦标赛、Polymarket 实时赔率、LMSR 模拟市场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48640" y="3319272"/>
            <a:ext cx="11091672" cy="749808"/>
          </a:xfrm>
          <a:prstGeom prst="roundRect">
            <a:avLst>
              <a:gd name="adj" fmla="val 12195"/>
            </a:avLst>
          </a:prstGeom>
          <a:solidFill>
            <a:srgbClr val="22D3EE">
              <a:alpha val="16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331927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文本层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3291840" y="3319272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5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BYOK LLM 分析师：只读取页面上已有的官方序列，输出解读而非数字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48640" y="4178808"/>
            <a:ext cx="11091672" cy="749808"/>
          </a:xfrm>
          <a:prstGeom prst="roundRect">
            <a:avLst>
              <a:gd name="adj" fmla="val 12195"/>
            </a:avLst>
          </a:prstGeom>
          <a:solidFill>
            <a:srgbClr val="8B5CF6">
              <a:alpha val="16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417880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模型层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3291840" y="4178808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5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DFM → 随机森林 → TSFM → BVAR 情景；AR(1) 作为透明基线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548640" y="5038344"/>
            <a:ext cx="11091672" cy="749808"/>
          </a:xfrm>
          <a:prstGeom prst="roundRect">
            <a:avLst>
              <a:gd name="adj" fmla="val 12195"/>
            </a:avLst>
          </a:prstGeom>
          <a:solidFill>
            <a:srgbClr val="4F8CFF">
              <a:alpha val="16000"/>
            </a:srgbClr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5038344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数据层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3291840" y="5038344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5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官方 API（BEA/BLS/世行/财政部）+ 每日快照回退 + 实时价格；每张卡片标注 Live / Cached / Snapshot / Demo</a:t>
            </a:r>
            <a:endParaRPr lang="en-US" sz="14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91616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信号自下而上流动；每一层都可独立评分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presleyzhou.github.io/omni-oracle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543032" y="64739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053328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来源：Omni Oracle RESEARCH-UPDATES.md §Priority order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· 路线图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按「投入 × 影响」排序的七步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760720"/>
                <a:gridCol w="1280160"/>
                <a:gridCol w="1097280"/>
                <a:gridCol w="240487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改进项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模块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投入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影响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5EA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预测者基准 + 人/AI/集成 Brier 对比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5EA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C1/C2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5EA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5EA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TSFM (Chronos-2) 加入即时预测集成并归因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5EA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5EA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5EA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交易沙盒 vs LMSR 市场（自带密钥、模拟资金）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5EA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P/C5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5EA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5EA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 交互拓扑 + 历史种子验证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5EA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5EA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中–大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5EA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相关市场语义聚类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5EA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5EA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5EA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 记分卡文本情绪列（时点纪律）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5EA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5EA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小–中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5EA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全体 AI 参与者的污染安全评分规则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5EA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5EA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★★★（可信度）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C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5897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前三项可在 90 天内以演示形式上线；第 7 项决定平台可信度，建议与第 1 项同步。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presleyzhou.github.io/omni-oracle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543032" y="64739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053328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来源：综合本讲全部引用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· 结论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五条原则，一条底线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1600200"/>
            <a:ext cx="6903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更快的数据 + 更宽的样本 + 更多的视角——对应三种误差来源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548640" y="2560320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2468880"/>
            <a:ext cx="6903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负责读，计量模型负责算；文本生成特征，不生成预测值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548640" y="3429000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3337560"/>
            <a:ext cx="6903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集成而非替换：模型 + 群体 + 市场，按样本外表现加权并公开归因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548640" y="429768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4206240"/>
            <a:ext cx="6903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时间纪律高于算法：时间戳、数据 vintage、知识截止后计分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548640" y="5166360"/>
            <a:ext cx="384048" cy="38404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143000" y="5074920"/>
            <a:ext cx="6903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先规则后模型：危机预警建立在有理论的指标之上</a:t>
            </a:r>
            <a:endParaRPr lang="en-US" sz="1900" dirty="0"/>
          </a:p>
        </p:txBody>
      </p:sp>
      <p:sp>
        <p:nvSpPr>
          <p:cNvPr id="23" name="Shape 20"/>
          <p:cNvSpPr/>
          <p:nvPr/>
        </p:nvSpPr>
        <p:spPr>
          <a:xfrm>
            <a:off x="8412480" y="1600200"/>
            <a:ext cx="3227832" cy="4389120"/>
          </a:xfrm>
          <a:prstGeom prst="roundRect">
            <a:avLst>
              <a:gd name="adj" fmla="val 3399"/>
            </a:avLst>
          </a:prstGeom>
          <a:solidFill>
            <a:srgbClr val="2A1418"/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686800" y="1874520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底线</a:t>
            </a:r>
            <a:endParaRPr lang="en-US" sz="2100" dirty="0"/>
          </a:p>
        </p:txBody>
      </p:sp>
      <p:sp>
        <p:nvSpPr>
          <p:cNvPr id="25" name="Text 22"/>
          <p:cNvSpPr txBox="1"/>
          <p:nvPr/>
        </p:nvSpPr>
        <p:spPr>
          <a:xfrm>
            <a:off x="8686800" y="2423160"/>
            <a:ext cx="26791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5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底线：LLM 直接做多元数值预测仍弱于线性回归；TSFM 嵌入非平稳；AI 代理真钱交易 57 天全部亏损。AI 提高的是流程的准确性，不是先知的能力。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presleyzhou.github.io/omni-oracle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543032" y="64739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3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参考文献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参考文献与数据来源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00200"/>
            <a:ext cx="536295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5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Stevanovic, D. (2026). Who Saw It Coming? Historical Experience and the 2021 Inflation Forecast Failure. arXiv 2604.14467.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5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Giannellis et al. (2026). Inflation Forecasting With Large Language Models. Journal of Forecasting. doi 10.1002/for.70139.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5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Alam et al. (2026). ChatMacro: Evaluating Inflation Forecasts of Generative AI. FRB San Francisco WP.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5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ECB Blog (2026-04-21). Navigating uncertain times with the help of AI. Lenza et al. (2025), EER 178.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5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JKSU-CIS (2026). LLMs for unstructured economic data processing: GDP forecasting. doi 10.1007/s44443-026-00788-2.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5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Kant, Pick &amp; Winter (2024), AStA; IMF WP/2025/252 — ML nowcasting horseraces.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5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Chronos-2 (Amazon, 2025-10); TimesFM 2.5 (Google); MDPI MAKE 7(4):135 — RBNZ TSFM 比较; arXiv 2604.16428; 2511.18578.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277356" y="1600200"/>
            <a:ext cx="536295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5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ForecastBench (Wharton, 2026-02; arXiv 2409.19839); Lu (2025) arXiv 2507.04562; Phil. Trans. R. Soc. B 381 (2026).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5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Look-Ahead-Bench arXiv 2601.13770; Profit Mirage 2510.07920; Chronologically Consistent LLMs 2502.21206; Agentic Time Machine 2606.21013; MACROCAST 2606.28670.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5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Bluwstein, Buckmann, Joseph, Kapadia &amp; Şimşek (2023), JIE; du Plessis &amp; Fritsche (2025), J. Forecasting; Estrella &amp; Trubin (2006); Sahm (2019).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5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Gu, Kelly &amp; Xiu (2020), RFS; arXiv 2606.29290; 2604.19476; 2512.19484; Kogan et al. (2017), QJE.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5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Score arXiv 2605.00420; Prediction Arena arXiv 2604.07355; WC2026-Agents arXiv 2607.17765; Multi-agent oracles arXiv 2605.30802.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5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Timmermann (2006); Ranjan &amp; Gneiting (2010); Gneiting &amp; Raftery (2007).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5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 Oracle: github.com/presleyzhou/omni-oracle — DESIGN.md, RESEARCH-UPDATES.md, data/live.json.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如何用 AI 提高宏观经济和趋势预测的准确性</dc:title>
  <dc:subject>PptxGenJS Presentation</dc:subject>
  <dc:creator>Presley Zhou · Omni Oracle</dc:creator>
  <cp:lastModifiedBy>Presley Zhou · Omni Oracle</cp:lastModifiedBy>
  <cp:revision>1</cp:revision>
  <dcterms:created xsi:type="dcterms:W3CDTF">2026-10-09T16:16:41Z</dcterms:created>
  <dcterms:modified xsi:type="dcterms:W3CDTF">2026-10-09T16:16:41Z</dcterms:modified>
</cp:coreProperties>
</file>